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Museum Visitation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24128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800" b="0">
                <a:solidFill>
                  <a:srgbClr val="DBE8EB"/>
                </a:solidFill>
              </a:defRPr>
            </a:pPr>
            <a:r>
              <a:t>An end-to-end machine learning project using attendance, weather, Google Trends, and calendar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896112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600" b="0">
                <a:solidFill>
                  <a:srgbClr val="DBE8EB"/>
                </a:solidFill>
              </a:defRPr>
            </a:pPr>
            <a:r>
              <a:t>SEIS 763 Machine Learning | Avila Adobe / Los Angeles heritage tourism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834640" cy="1234440"/>
          </a:xfrm>
          <a:prstGeom prst="rect">
            <a:avLst/>
          </a:prstGeom>
          <a:solidFill>
            <a:srgbClr val="F5F8F8"/>
          </a:solidFill>
          <a:ln>
            <a:solidFill>
              <a:srgbClr val="F5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22860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400" b="1">
                <a:solidFill>
                  <a:srgbClr val="007B87"/>
                </a:solidFill>
              </a:defRPr>
            </a:pPr>
            <a:r>
              <a:t>Forecasting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2"/>
            <a:ext cx="224028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400" b="0">
                <a:solidFill>
                  <a:srgbClr val="232B34"/>
                </a:solidFill>
              </a:defRPr>
            </a:pPr>
            <a:r>
              <a:t>Can monthly museum attendance be predicted using seasonal, weather, and public-interest signals?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 project predicts monthly museum visitors and translates search-demand patterns into practical marketing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393192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B34"/>
                </a:solidFill>
              </a:defRPr>
            </a:pPr>
            <a:r>
              <a:t>Built a month-level forecasting dataset covering Jan 2015 to Jun 2021.</a:t>
            </a:r>
          </a:p>
          <a:p>
            <a:pPr>
              <a:spcAft>
                <a:spcPts val="700"/>
              </a:spcAft>
              <a:defRPr sz="2000">
                <a:solidFill>
                  <a:srgbClr val="232B34"/>
                </a:solidFill>
              </a:defRPr>
            </a:pPr>
            <a:r>
              <a:t>Merged museum visitors with weather, Google Trends, calendar indicators, and lag features.</a:t>
            </a:r>
          </a:p>
          <a:p>
            <a:pPr>
              <a:spcAft>
                <a:spcPts val="700"/>
              </a:spcAft>
              <a:defRPr sz="2000">
                <a:solidFill>
                  <a:srgbClr val="232B34"/>
                </a:solidFill>
              </a:defRPr>
            </a:pPr>
            <a:r>
              <a:t>Best model: LASSO-LARS, R2 = 0.783, RMSE = 2,982 visitors, MAE = 2,259 visitors.</a:t>
            </a:r>
          </a:p>
          <a:p>
            <a:pPr>
              <a:spcAft>
                <a:spcPts val="700"/>
              </a:spcAft>
              <a:defRPr sz="2000">
                <a:solidFill>
                  <a:srgbClr val="232B34"/>
                </a:solidFill>
              </a:defRPr>
            </a:pPr>
            <a:r>
              <a:t>Strongest driver: prior-year same-month visitors, confirming seasonality as the main attendance pattern.</a:t>
            </a:r>
          </a:p>
          <a:p>
            <a:pPr>
              <a:spcAft>
                <a:spcPts val="700"/>
              </a:spcAft>
              <a:defRPr sz="2000">
                <a:solidFill>
                  <a:srgbClr val="232B34"/>
                </a:solidFill>
              </a:defRPr>
            </a:pPr>
            <a:r>
              <a:t>Google Trends adds a marketing lens: searchers are often looking for LA history, Olvera Street, family activities, and tourism discovery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Avila Adobe is part of a larger destination ecosystem, so forecasting and demand capture both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429000" cy="4251960"/>
          </a:xfrm>
          <a:prstGeom prst="rect">
            <a:avLst/>
          </a:prstGeom>
          <a:solidFill>
            <a:srgbClr val="F1F6F7"/>
          </a:solidFill>
          <a:ln>
            <a:solidFill>
              <a:srgbClr val="D2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9260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800" b="1">
                <a:solidFill>
                  <a:srgbClr val="152337"/>
                </a:solidFill>
              </a:defRPr>
            </a:pPr>
            <a:r>
              <a:t>Operational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834640" cy="210312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Plan staffing and programming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Understand seasonal peaks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Prepare for low-attendance periods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3429000" cy="4251960"/>
          </a:xfrm>
          <a:prstGeom prst="rect">
            <a:avLst/>
          </a:prstGeom>
          <a:solidFill>
            <a:srgbClr val="F1F6F7"/>
          </a:solidFill>
          <a:ln>
            <a:solidFill>
              <a:srgbClr val="D2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9260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800" b="1">
                <a:solidFill>
                  <a:srgbClr val="152337"/>
                </a:solidFill>
              </a:defRPr>
            </a:pPr>
            <a:r>
              <a:t>Marketing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743200" cy="246888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Find search terms that match Avila's identity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Capture visitors before they arrive downtown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Position Avila as a destination, not only a pass-through stop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17320"/>
            <a:ext cx="3429000" cy="4251960"/>
          </a:xfrm>
          <a:prstGeom prst="rect">
            <a:avLst/>
          </a:prstGeom>
          <a:solidFill>
            <a:srgbClr val="F1F6F7"/>
          </a:solidFill>
          <a:ln>
            <a:solidFill>
              <a:srgbClr val="D2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91640"/>
            <a:ext cx="29260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800" b="1">
                <a:solidFill>
                  <a:srgbClr val="152337"/>
                </a:solidFill>
              </a:defRPr>
            </a:pPr>
            <a:r>
              <a:t>Analytics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834640" cy="22860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Forecast monthly visitors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Identify useful predictors</a:t>
            </a:r>
          </a:p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Turn model outputs into action-oriented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Forecasting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These questions define the modeling and interpretation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Can we accurately predict monthly visitor counts for Avila Adobe?</a:t>
            </a:r>
          </a:p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How much of visitation is explained by seasonality and prior attendance?</a:t>
            </a:r>
          </a:p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Do weather patterns add meaningful predictive value?</a:t>
            </a:r>
          </a:p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Can Google Trends act as a proxy for demand or visitor intent?</a:t>
            </a:r>
          </a:p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Which search themes look like missed marketing opportunities?</a:t>
            </a:r>
          </a:p>
          <a:p>
            <a:pPr>
              <a:spcAft>
                <a:spcPts val="800"/>
              </a:spcAft>
              <a:defRPr sz="2200">
                <a:solidFill>
                  <a:srgbClr val="232B34"/>
                </a:solidFill>
              </a:defRPr>
            </a:pPr>
            <a:r>
              <a:t>What model is accurate enough to support monthly planning decisions?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Final modeling table: 78 monthly rows, 73 engineered predictors, no missing values.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 Role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Museum 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Monthly visitors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Target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Temp, precipitation, wind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Contextual predictor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Google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Search interest 0-100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Demand / marketing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Holidays, seasons, school breaks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Seasonality signal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Lag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Lag 1, lag 12, rolling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Forecasting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617720"/>
            <a:ext cx="10241280" cy="109728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Coverage: Jan 2015 through Jun 2021.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Visitor range: 0 to 41,242 monthly visitors; mean = 17,466.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Dataset grain is monthly, which keeps all sources aligned on the same time unit.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 project follows a reproducible data science workflow from raw data to presentation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museum, weather,</a:t>
            </a:r>
            <a:br/>
            <a:r>
              <a:t>trends,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359152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EBA734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39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monthly format,</a:t>
            </a:r>
            <a:br/>
            <a:r>
              <a:t>consistent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359152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EBA734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lags, rolling mean,</a:t>
            </a:r>
            <a:br/>
            <a:r>
              <a:t>seasonal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359152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EBA734"/>
                </a:solidFill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linear, LASSO,</a:t>
            </a:r>
            <a:br/>
            <a:r>
              <a:t>RF,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1" y="2359152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EBA734"/>
                </a:solidFill>
              </a:defRPr>
            </a:pPr>
            <a: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RMSE, MAE,</a:t>
            </a:r>
            <a:br/>
            <a: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59152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EBA734"/>
                </a:solidFill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057400"/>
            <a:ext cx="15544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21284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52337"/>
                </a:solidFill>
              </a:defRPr>
            </a:pPr>
            <a: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514600"/>
            <a:ext cx="13258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5D6874"/>
                </a:solidFill>
              </a:defRPr>
            </a:pPr>
            <a:r>
              <a:t>forecasting +</a:t>
            </a:r>
            <a:br/>
            <a:r>
              <a:t>marketing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60520"/>
            <a:ext cx="10058400" cy="100584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Scripts and notebooks document the path from raw files to processed datasets, model outputs, plots, and presentation visuals.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Google Trends work is versioned so new collection attempts can be compared without overwriting prior runs.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Visitor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Attendance is highly seasonal and sharply disrupted around the COVID period.</a:t>
            </a:r>
          </a:p>
        </p:txBody>
      </p:sp>
      <p:pic>
        <p:nvPicPr>
          <p:cNvPr id="5" name="Picture 4" descr="monthly_visi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15000"/>
            <a:ext cx="10058400" cy="4572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232B34"/>
                </a:solidFill>
              </a:defRPr>
            </a:pPr>
            <a:r>
              <a:t>This pattern explains why lag and calendar features matter: the model needs memory of prior seasonal cycles.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 final model combines direct signals, seasonal indicators, and time-aware predictors.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 Group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avg_temp_F, min_temp_F, max_temp_F, precipitation, 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Seasonality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month number, quarter, season flags, month_sin, month_cos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federal holidays, school breaks, event season, holiday season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Google Trends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museum-specific, tourism, family, seasonal, cultural heritage terms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Lag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visitors_lag1, visitors_lag12, rolling_mean_3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800600"/>
            <a:ext cx="10058400" cy="9144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Lag 12 captures last year's same-month baseline.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Rolling mean smooths recent momentum.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Trend terms are normalized Google Trends values, not actual search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Google Trends Research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Search interest is used as both a modeling signal and a marketing opportunity scan.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Primary focus: Avila Adobe and the surrounding El Pueblo / Olvera Street visitor path.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Keyword lanes: museum-specific, discovery marketing, cultural heritage, seasonal intent, family activities, and benchmarks.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Benchmarks: Getty Museum, La Brea Tar Pits, and Griffith Observatory provide context, not the main target.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Interpretation rule: Google Trends values are relative 0-100 interest scores, not raw search volume.</a:t>
            </a:r>
          </a:p>
        </p:txBody>
      </p:sp>
      <p:pic>
        <p:nvPicPr>
          <p:cNvPr id="6" name="Picture 5" descr="top_keyword_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578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Top Search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Highest-opportunity keywords suggest how Avila could intercept existing demand.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6736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Los Angeles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lifestyle_history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61.19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Olvera Street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tourism_discovery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57.97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Los Angeles museums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tourism_discovery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things to do in Los Angeles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tourism_discovery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55.32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El Pueblo Los Angeles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cultural_heritage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53.32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things to do in LA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tourism_discovery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52.91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La Brea Tar Pits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things to do in downtown LA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tourism_discovery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50.92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heme_opportunity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10332720" cy="4572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232B34"/>
                </a:solidFill>
              </a:defRPr>
            </a:pPr>
            <a:r>
              <a:t>Top themes above the opportunity threshold include competitor context, tourism discovery, and lifestyle/history.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Visitor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Search terms connected to LA history and Olvera Street align well with the museum visitation story.</a:t>
            </a:r>
          </a:p>
        </p:txBody>
      </p:sp>
      <p:pic>
        <p:nvPicPr>
          <p:cNvPr id="5" name="Picture 4" descr="avila_vs_top_trends_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434840"/>
          </a:xfrm>
          <a:prstGeom prst="rect">
            <a:avLst/>
          </a:prstGeom>
        </p:spPr>
      </p:pic>
      <p:pic>
        <p:nvPicPr>
          <p:cNvPr id="6" name="Picture 5" descr="avila_vs_benchmarks_sc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21208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Modeling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Multiple algorithms were compared using the same final dataset.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Included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Simple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Regularized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LASSO, LASSO-LARS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Handles many correlated predictors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Tree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Captures nonlinear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Boosting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Sequentially improves prediction errors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251960"/>
            <a:ext cx="10058400" cy="128016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Metrics: RMSE, MAE, and R2.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Interpretation priority: balance predictive accuracy with clear explanation for class presentation.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Regularization is especially useful because many trend and calendar variables can overlap.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Model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LASSO and LASSO-LARS clearly outperform the baseline and tree models.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5577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8,769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6,206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-0.879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Cleaned Linear Regression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8,769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6,206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-0.879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2,987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2,258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LASSO-LARS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2,982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3,604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5,002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3,340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0.389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odel_r2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07492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12080"/>
            <a:ext cx="10241280" cy="54864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232B34"/>
                </a:solidFill>
              </a:defRPr>
            </a:pPr>
            <a:r>
              <a:t>Best result: LASSO-LARS with RMSE = 2,982, MAE = 2,259, and R2 = 0.783.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Best Model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Predicted and actual visitors track the broad monthly pattern closely.</a:t>
            </a:r>
          </a:p>
        </p:txBody>
      </p:sp>
      <p:pic>
        <p:nvPicPr>
          <p:cNvPr id="5" name="Picture 4" descr="lasso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5257800" cy="4343400"/>
          </a:xfrm>
          <a:prstGeom prst="rect">
            <a:avLst/>
          </a:prstGeom>
        </p:spPr>
      </p:pic>
      <p:pic>
        <p:nvPicPr>
          <p:cNvPr id="6" name="Picture 5" descr="lasso_residuals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21208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Important Predictors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 model story is dominated by seasonality, with search and weather adding useful context.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5233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visitors_lag12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los_angeles_attractions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0.071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min_temp_F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things_to_do_in_la_in_february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0.030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total_precip_in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month_cos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0.022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olvera_street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family_activities_los_angeles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B34"/>
                          </a:solidFill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lasso_top_predictor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2120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What the model says about visitor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B34"/>
                </a:solidFill>
              </a:defRPr>
            </a:pPr>
            <a:r>
              <a:t>Seasonality is the backbone: visitors_lag12 is the strongest single predictor in the feature-importance output.</a:t>
            </a:r>
          </a:p>
          <a:p>
            <a:pPr>
              <a:spcAft>
                <a:spcPts val="800"/>
              </a:spcAft>
              <a:defRPr sz="2100">
                <a:solidFill>
                  <a:srgbClr val="232B34"/>
                </a:solidFill>
              </a:defRPr>
            </a:pPr>
            <a:r>
              <a:t>Tourism discovery terms matter: searches for LA attractions and Olvera Street help represent public intent.</a:t>
            </a:r>
          </a:p>
          <a:p>
            <a:pPr>
              <a:spcAft>
                <a:spcPts val="800"/>
              </a:spcAft>
              <a:defRPr sz="2100">
                <a:solidFill>
                  <a:srgbClr val="232B34"/>
                </a:solidFill>
              </a:defRPr>
            </a:pPr>
            <a:r>
              <a:t>Weather can still influence short-term outing decisions, especially precipitation and temperature variables.</a:t>
            </a:r>
          </a:p>
          <a:p>
            <a:pPr>
              <a:spcAft>
                <a:spcPts val="800"/>
              </a:spcAft>
              <a:defRPr sz="2100">
                <a:solidFill>
                  <a:srgbClr val="232B34"/>
                </a:solidFill>
              </a:defRPr>
            </a:pPr>
            <a:r>
              <a:t>A practical forecast should combine last year's same month, recent attendance momentum, and search-interest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Use the forecast for planning and the Trends analysis for demand 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B34"/>
                </a:solidFill>
              </a:defRPr>
            </a:pPr>
            <a:r>
              <a:t>Operational planning: use monthly forecasts to anticipate staffing, programming, and visitor-service needs.</a:t>
            </a:r>
          </a:p>
          <a:p>
            <a:pPr>
              <a:spcAft>
                <a:spcPts val="800"/>
              </a:spcAft>
              <a:defRPr sz="2000">
                <a:solidFill>
                  <a:srgbClr val="232B34"/>
                </a:solidFill>
              </a:defRPr>
            </a:pPr>
            <a:r>
              <a:t>Marketing: test search copy around 'Los Angeles history,' 'Olvera Street,' 'oldest house in Los Angeles,' and family outing terms.</a:t>
            </a:r>
          </a:p>
          <a:p>
            <a:pPr>
              <a:spcAft>
                <a:spcPts val="800"/>
              </a:spcAft>
              <a:defRPr sz="2000">
                <a:solidFill>
                  <a:srgbClr val="232B34"/>
                </a:solidFill>
              </a:defRPr>
            </a:pPr>
            <a:r>
              <a:t>Seasonal campaigns: align content with winter, rainy-day, school-break, and short-visit search behavior.</a:t>
            </a:r>
          </a:p>
          <a:p>
            <a:pPr>
              <a:spcAft>
                <a:spcPts val="800"/>
              </a:spcAft>
              <a:defRPr sz="2000">
                <a:solidFill>
                  <a:srgbClr val="232B34"/>
                </a:solidFill>
              </a:defRPr>
            </a:pPr>
            <a:r>
              <a:t>Programming: create repeatable hooks such as heritage weekends, family activities, school-break tours, and time-bounded history experiences.</a:t>
            </a:r>
          </a:p>
          <a:p>
            <a:pPr>
              <a:spcAft>
                <a:spcPts val="800"/>
              </a:spcAft>
              <a:defRPr sz="2000">
                <a:solidFill>
                  <a:srgbClr val="232B34"/>
                </a:solidFill>
              </a:defRPr>
            </a:pPr>
            <a:r>
              <a:t>Measurement: track future visitor counts against search-interest changes to evaluate whether campaigns shift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2500" b="1">
                <a:solidFill>
                  <a:srgbClr val="152337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EBA734"/>
          </a:solidFill>
          <a:ln>
            <a:solidFill>
              <a:srgbClr val="EBA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070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250" b="0">
                <a:solidFill>
                  <a:srgbClr val="5D6874"/>
                </a:solidFill>
              </a:defRPr>
            </a:pPr>
            <a:r>
              <a:t>The model is useful, but the project has clear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212080" cy="4297680"/>
          </a:xfrm>
          <a:prstGeom prst="rect">
            <a:avLst/>
          </a:prstGeom>
          <a:solidFill>
            <a:srgbClr val="F1F6F7"/>
          </a:solidFill>
          <a:ln>
            <a:solidFill>
              <a:srgbClr val="D2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5720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900" b="1">
                <a:solidFill>
                  <a:srgbClr val="152337"/>
                </a:solidFill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283464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Only 78 monthly rows in the final model dataset.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COVID creates an unusual disruption period.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Google Trends values are relative scores, not exact search counts.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Search terms can be sparse or return zeros when interest is too 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212080" cy="4297680"/>
          </a:xfrm>
          <a:prstGeom prst="rect">
            <a:avLst/>
          </a:prstGeom>
          <a:solidFill>
            <a:srgbClr val="F1F6F7"/>
          </a:solidFill>
          <a:ln>
            <a:solidFill>
              <a:srgbClr val="D2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5720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1900" b="1">
                <a:solidFill>
                  <a:srgbClr val="152337"/>
                </a:solidFill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572000" cy="283464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Add newer visitor data after June 2021.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Test time-series validation and forecast horizons.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Separate COVID or reopening effects explicitly.</a:t>
            </a:r>
          </a:p>
          <a:p>
            <a:pPr>
              <a:spcAft>
                <a:spcPts val="0"/>
              </a:spcAft>
              <a:defRPr sz="1700">
                <a:solidFill>
                  <a:srgbClr val="232B34"/>
                </a:solidFill>
              </a:defRPr>
            </a:pPr>
            <a:r>
              <a:t>Compare campaign periods against future Trends and visitor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78992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149840" cy="2926080"/>
          </a:xfrm>
          <a:prstGeom prst="rect">
            <a:avLst/>
          </a:prstGeom>
          <a:noFill/>
        </p:spPr>
        <p:txBody>
          <a:bodyPr wrap="none" lIns="109728" rIns="73152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E7F0F2"/>
                </a:solidFill>
              </a:defRPr>
            </a:pPr>
            <a:r>
              <a:t>The project shows that monthly museum visitation can be forecast with useful accuracy.</a:t>
            </a:r>
          </a:p>
          <a:p>
            <a:pPr>
              <a:spcAft>
                <a:spcPts val="900"/>
              </a:spcAft>
              <a:defRPr sz="2300">
                <a:solidFill>
                  <a:srgbClr val="E7F0F2"/>
                </a:solidFill>
              </a:defRPr>
            </a:pPr>
            <a:r>
              <a:t>Seasonality is the strongest driver, but Google Trends helps explain demand and marketing opportunity.</a:t>
            </a:r>
          </a:p>
          <a:p>
            <a:pPr>
              <a:spcAft>
                <a:spcPts val="900"/>
              </a:spcAft>
              <a:defRPr sz="2300">
                <a:solidFill>
                  <a:srgbClr val="E7F0F2"/>
                </a:solidFill>
              </a:defRPr>
            </a:pPr>
            <a:r>
              <a:t>The best presentation takeaway: Avila Adobe can plan around predictable seasonal patterns while using search-interest insights to become a more intentional destination.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>
              <a:defRPr sz="2400" b="1">
                <a:solidFill>
                  <a:srgbClr val="EBA734"/>
                </a:solidFill>
              </a:defRPr>
            </a:pPr>
            <a: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65392"/>
            <a:ext cx="21031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>
              <a:defRPr sz="850" b="0">
                <a:solidFill>
                  <a:srgbClr val="5D6874"/>
                </a:solidFill>
              </a:defRPr>
            </a:pPr>
            <a:r>
              <a:t>Museum Visitation Forecasting |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